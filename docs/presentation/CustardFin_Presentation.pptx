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412480" y="5961888"/>
            <a:ext cx="2514600" cy="475488"/>
          </a:xfrm>
          <a:prstGeom prst="roundRect">
            <a:avLst/>
          </a:prstGeom>
          <a:solidFill>
            <a:srgbClr val="131B2E"/>
          </a:solidFill>
          <a:ln w="1524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EF08A"/>
                </a:solidFill>
                <a:latin typeface="Plus Jakarta Sans"/>
              </a:defRPr>
            </a:pPr>
            <a:r>
              <a:t>Welcome to CustardFin! ✨</a:t>
            </a:r>
          </a:p>
        </p:txBody>
      </p:sp>
      <p:pic>
        <p:nvPicPr>
          <p:cNvPr id="5" name="Picture 4" descr="custard_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650992"/>
            <a:ext cx="896112" cy="896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822960"/>
            <a:ext cx="8046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EF08A"/>
                </a:solidFill>
                <a:latin typeface="Plus Jakarta Sans"/>
              </a:defRPr>
            </a:pPr>
            <a:r>
              <a:t>MCA CLOUD COMPUTING LAB PROJECT • SEMESTER END EVALUATION</a:t>
            </a:r>
          </a:p>
          <a:p>
            <a:pPr>
              <a:defRPr sz="3600" b="1">
                <a:solidFill>
                  <a:srgbClr val="FEF08A"/>
                </a:solidFill>
                <a:latin typeface="Plus Jakarta Sans"/>
              </a:defRPr>
            </a:pPr>
            <a:r>
              <a:t>CUSTARDFIN: Community Video Platform</a:t>
            </a:r>
          </a:p>
          <a:p>
            <a:pPr>
              <a:spcBef>
                <a:spcPts val="400"/>
              </a:spcBef>
              <a:defRPr sz="2100" b="1">
                <a:solidFill>
                  <a:srgbClr val="F8FAFC"/>
                </a:solidFill>
                <a:latin typeface="Plus Jakarta Sans"/>
              </a:defRPr>
            </a:pPr>
            <a:r>
              <a:t>Keep Videos at Home, Share with the World</a:t>
            </a:r>
          </a:p>
          <a:p>
            <a:pPr>
              <a:spcBef>
                <a:spcPts val="800"/>
              </a:spcBef>
              <a:defRPr sz="1400">
                <a:solidFill>
                  <a:srgbClr val="CBD5E1"/>
                </a:solidFill>
                <a:latin typeface="Plus Jakarta Sans"/>
              </a:defRPr>
            </a:pPr>
            <a:r>
              <a:t>Keep your videos at home like Jellyfin, share them with the world like YouTube — with Zero Permanent Cloud Video Storage.</a:t>
            </a:r>
          </a:p>
        </p:txBody>
      </p:sp>
      <p:pic>
        <p:nvPicPr>
          <p:cNvPr id="7" name="Picture 6" descr="custard_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777240"/>
            <a:ext cx="2194560" cy="21945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3794760"/>
            <a:ext cx="3337560" cy="2057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95928"/>
            <a:ext cx="2825496" cy="165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DDD6FE"/>
                </a:solidFill>
                <a:latin typeface="Plus Jakarta Sans"/>
              </a:defRPr>
            </a:pPr>
            <a:r>
              <a:t>AUTHORS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Team Credits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Anish Ghadi (25P0320009)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Anosh Chodankar (25P0320010)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MCA Cloud Computing Lab 2026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Self-Hosted Cloud Demonstration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3794760"/>
            <a:ext cx="3337560" cy="2057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3995928"/>
            <a:ext cx="2825496" cy="165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EF08A"/>
                </a:solidFill>
                <a:latin typeface="Plus Jakarta Sans"/>
              </a:defRPr>
            </a:pPr>
            <a:r>
              <a:t>INVARIANT #1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Core Rule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Videos stay 100% on home PC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Public sharing syncs ~3 KB text file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Zero permanent cloud storage bills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Private watch history stays on 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794760"/>
            <a:ext cx="3413455" cy="2057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3995928"/>
            <a:ext cx="2901391" cy="165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7F3D0"/>
                </a:solidFill>
                <a:latin typeface="Plus Jakarta Sans"/>
              </a:defRPr>
            </a:pPr>
            <a:r>
              <a:t>100% OPEN SOURCE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Simple Tech Stack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Tiny Go 1.24 static binary (&lt; 20 MB RAM)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Next.js 15 App Router web client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PostgreSQL + SQLite WAL + Redis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Universal GPU + CPU video encoding</a:t>
            </a:r>
          </a:p>
        </p:txBody>
      </p:sp>
    </p:spTree>
  </p:cSld>
  <p:clrMapOvr>
    <a:masterClrMapping/>
  </p:clrMapOvr>
  <p:transition spd="med">
    <p:fade filter="out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412480" y="5961888"/>
            <a:ext cx="2514600" cy="475488"/>
          </a:xfrm>
          <a:prstGeom prst="roundRect">
            <a:avLst/>
          </a:prstGeom>
          <a:solidFill>
            <a:srgbClr val="131B2E"/>
          </a:solidFill>
          <a:ln w="1524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EF08A"/>
                </a:solidFill>
                <a:latin typeface="Plus Jakarta Sans"/>
              </a:defRPr>
            </a:pPr>
            <a:r>
              <a:t>Best of Both Worlds! 💡</a:t>
            </a:r>
          </a:p>
        </p:txBody>
      </p:sp>
      <p:pic>
        <p:nvPicPr>
          <p:cNvPr id="5" name="Picture 4" descr="custard_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650992"/>
            <a:ext cx="896112" cy="896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2004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ECDD3"/>
                </a:solidFill>
                <a:latin typeface="Plus Jakarta Sans"/>
              </a:defRPr>
            </a:pPr>
            <a:r>
              <a:t>THE CORE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F8FAFC"/>
                </a:solidFill>
                <a:latin typeface="Plus Jakarta Sans"/>
              </a:defRPr>
            </a:pPr>
            <a:r>
              <a:t>Why Current Apps Fail: Big Cloud vs Home Servers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83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508760"/>
            <a:ext cx="5166360" cy="3429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709928"/>
            <a:ext cx="4654296" cy="302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ECDD3"/>
                </a:solidFill>
                <a:latin typeface="Plus Jakarta Sans"/>
              </a:defRPr>
            </a:pPr>
            <a:r>
              <a:t>TRADITIONAL CLOUD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Big Cloud (YouTube / AWS S3)</a:t>
            </a:r>
          </a:p>
          <a:p>
            <a:pPr>
              <a:spcAft>
                <a:spcPts val="200"/>
              </a:spcAft>
              <a:defRPr sz="2600" b="1">
                <a:solidFill>
                  <a:srgbClr val="FECDD3"/>
                </a:solidFill>
                <a:latin typeface="Plus Jakarta Sans"/>
              </a:defRPr>
            </a:pPr>
            <a:r>
              <a:t>HEAVY FEES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Compounding Monthly Costs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Monthly storage bills grow continuously as library expands.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Creators surrender video ownership to corporate platform ads.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Crushing cloud bandwidth fees make community apps expensive.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166360" cy="3429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DDD6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709928"/>
            <a:ext cx="4654296" cy="302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DDD6FE"/>
                </a:solidFill>
                <a:latin typeface="Plus Jakarta Sans"/>
              </a:defRPr>
            </a:pPr>
            <a:r>
              <a:t>HOME SILO LIMITS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Home Servers (Plex / Jellyfin)</a:t>
            </a:r>
          </a:p>
          <a:p>
            <a:pPr>
              <a:spcAft>
                <a:spcPts val="200"/>
              </a:spcAft>
              <a:defRPr sz="2600" b="1">
                <a:solidFill>
                  <a:srgbClr val="DDD6FE"/>
                </a:solidFill>
                <a:latin typeface="Plus Jakarta Sans"/>
              </a:defRPr>
            </a:pPr>
            <a:r>
              <a:t>BLOCKED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ISP CGNAT &amp; Choked Upload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Blocked by ISP CGNAT; needs complicated port forwarding.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Private silos with no public feed for friends to discover media.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3 to 4 outside viewers choke home Wi-Fi upload bandwidth.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074920"/>
            <a:ext cx="10698480" cy="777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76088"/>
            <a:ext cx="10186415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EF08A"/>
                </a:solidFill>
                <a:latin typeface="Plus Jakarta Sans"/>
              </a:defRPr>
            </a:pPr>
            <a:r>
              <a:t>BEST OF BOTH WORLDS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The CustardFin Fix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Videos stay at home • Cloud only stores a ~3 KB info file • Cloud cache protects home Wi-Fi.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412480" y="5961888"/>
            <a:ext cx="2514600" cy="475488"/>
          </a:xfrm>
          <a:prstGeom prst="roundRect">
            <a:avLst/>
          </a:prstGeom>
          <a:solidFill>
            <a:srgbClr val="131B2E"/>
          </a:solidFill>
          <a:ln w="1524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EF08A"/>
                </a:solidFill>
                <a:latin typeface="Plus Jakarta Sans"/>
              </a:defRPr>
            </a:pPr>
            <a:r>
              <a:t>4 Simple Steps! ⚙️</a:t>
            </a:r>
          </a:p>
        </p:txBody>
      </p:sp>
      <p:pic>
        <p:nvPicPr>
          <p:cNvPr id="5" name="Picture 4" descr="custard_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650992"/>
            <a:ext cx="896112" cy="896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2004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EF08A"/>
                </a:solidFill>
                <a:latin typeface="Plus Jakarta Sans"/>
              </a:defRPr>
            </a:pPr>
            <a:r>
              <a:t>4-STEP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F8FAFC"/>
                </a:solidFill>
                <a:latin typeface="Plus Jakarta Sans"/>
              </a:defRPr>
            </a:pPr>
            <a:r>
              <a:t>How It Works: From Home Folder to Public Stream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83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508760"/>
            <a:ext cx="2487168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709928"/>
            <a:ext cx="1975104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EF08A"/>
                </a:solidFill>
                <a:latin typeface="Plus Jakarta Sans"/>
              </a:defRPr>
            </a:pPr>
            <a:r>
              <a:t>STEP 01 • HOME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Scan &amp; Hash</a:t>
            </a:r>
          </a:p>
          <a:p>
            <a:pPr>
              <a:spcAft>
                <a:spcPts val="200"/>
              </a:spcAft>
              <a:defRPr sz="2600" b="1">
                <a:solidFill>
                  <a:srgbClr val="FEF08A"/>
                </a:solidFill>
                <a:latin typeface="Plus Jakarta Sans"/>
              </a:defRPr>
            </a:pPr>
            <a:r>
              <a:t>SHA-256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Unique Content ID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Scans local folder for video files.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Generates thumbnail preview frame.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Saves unique fingerprint in SQLite.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508760"/>
            <a:ext cx="2487168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1709928"/>
            <a:ext cx="1975104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7F3D0"/>
                </a:solidFill>
                <a:latin typeface="Plus Jakarta Sans"/>
              </a:defRPr>
            </a:pPr>
            <a:r>
              <a:t>STEP 02 • ENCODE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4s Video Chunks</a:t>
            </a:r>
          </a:p>
          <a:p>
            <a:pPr>
              <a:spcAft>
                <a:spcPts val="200"/>
              </a:spcAft>
              <a:defRPr sz="2600" b="1">
                <a:solidFill>
                  <a:srgbClr val="A7F3D0"/>
                </a:solidFill>
                <a:latin typeface="Plus Jakarta Sans"/>
              </a:defRPr>
            </a:pPr>
            <a:r>
              <a:t>4s HLS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Pre-Encoded Chunks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Pre-encodes video into 4-second .ts parts.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Hardware GPU or CPU fallback.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Zero playback lag when users watch.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508760"/>
            <a:ext cx="2487168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709928"/>
            <a:ext cx="1975104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BAE6FD"/>
                </a:solidFill>
                <a:latin typeface="Plus Jakarta Sans"/>
              </a:defRPr>
            </a:pPr>
            <a:r>
              <a:t>STEP 03 • CONNECT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Safe Outbound Tunnel</a:t>
            </a:r>
          </a:p>
          <a:p>
            <a:pPr>
              <a:spcAft>
                <a:spcPts val="200"/>
              </a:spcAft>
              <a:defRPr sz="2600" b="1">
                <a:solidFill>
                  <a:srgbClr val="BAE6FD"/>
                </a:solidFill>
                <a:latin typeface="Plus Jakarta Sans"/>
              </a:defRPr>
            </a:pPr>
            <a:r>
              <a:t>OUTBOUND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Bypasses ISP CGNAT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Outbound FRP link connects to GCP VM.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Bypasses CGNAT with no open ports.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15s health ping proves node is online.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508760"/>
            <a:ext cx="2606040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709928"/>
            <a:ext cx="2093976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ED7AA"/>
                </a:solidFill>
                <a:latin typeface="Plus Jakarta Sans"/>
              </a:defRPr>
            </a:pPr>
            <a:r>
              <a:t>STEP 04 • SHARE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3 KB Info Sync</a:t>
            </a:r>
          </a:p>
          <a:p>
            <a:pPr>
              <a:spcAft>
                <a:spcPts val="200"/>
              </a:spcAft>
              <a:defRPr sz="2600" b="1">
                <a:solidFill>
                  <a:srgbClr val="FED7AA"/>
                </a:solidFill>
                <a:latin typeface="Plus Jakarta Sans"/>
              </a:defRPr>
            </a:pPr>
            <a:r>
              <a:t>~3 KB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Manifest Payload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1-click Public syncs JSON manifest.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Saves title &amp; duration to Postgres.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Surfaces in community discovery feed.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412480" y="5961888"/>
            <a:ext cx="2514600" cy="475488"/>
          </a:xfrm>
          <a:prstGeom prst="roundRect">
            <a:avLst/>
          </a:prstGeom>
          <a:solidFill>
            <a:srgbClr val="131B2E"/>
          </a:solidFill>
          <a:ln w="1524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EF08A"/>
                </a:solidFill>
                <a:latin typeface="Plus Jakarta Sans"/>
              </a:defRPr>
            </a:pPr>
            <a:r>
              <a:t>Home &amp; Cloud Together! 🤝</a:t>
            </a:r>
          </a:p>
        </p:txBody>
      </p:sp>
      <p:pic>
        <p:nvPicPr>
          <p:cNvPr id="5" name="Picture 4" descr="custard_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650992"/>
            <a:ext cx="896112" cy="896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2004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AE6FD"/>
                </a:solidFill>
                <a:latin typeface="Plus Jakarta Sans"/>
              </a:defRPr>
            </a:pPr>
            <a:r>
              <a:t>SYSTEM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F8FAFC"/>
                </a:solidFill>
                <a:latin typeface="Plus Jakarta Sans"/>
              </a:defRPr>
            </a:pPr>
            <a:r>
              <a:t>Two-Part Design: Home PC + Cloud Server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83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508760"/>
            <a:ext cx="5166360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709928"/>
            <a:ext cx="4654296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EF08A"/>
                </a:solidFill>
                <a:latin typeface="Plus Jakarta Sans"/>
              </a:defRPr>
            </a:pPr>
            <a:r>
              <a:t>RUNS AT HOME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Part 1 • Home Edge App (Any PC)</a:t>
            </a:r>
          </a:p>
          <a:p>
            <a:pPr>
              <a:spcAft>
                <a:spcPts val="200"/>
              </a:spcAft>
              <a:defRPr sz="2600" b="1">
                <a:solidFill>
                  <a:srgbClr val="FEF08A"/>
                </a:solidFill>
                <a:latin typeface="Plus Jakarta Sans"/>
              </a:defRPr>
            </a:pPr>
            <a:r>
              <a:t>&lt; 20 MB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Idle RAM Footprint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Tiny Go app runs quietly in background using under 20 MB RAM.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Local SQLite WAL DB stores paths, hashes, and private watch progress.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FFmpeg worker creates 4s chunks and video preview thumbnails.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FRP client connects outbound; LAN streamer serves home gigabit fast.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166360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709928"/>
            <a:ext cx="4654296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BAE6FD"/>
                </a:solidFill>
                <a:latin typeface="Plus Jakarta Sans"/>
              </a:defRPr>
            </a:pPr>
            <a:r>
              <a:t>RUNS ON GCP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Part 2 • Cloud Server (Google Cloud)</a:t>
            </a:r>
          </a:p>
          <a:p>
            <a:pPr>
              <a:spcAft>
                <a:spcPts val="200"/>
              </a:spcAft>
              <a:defRPr sz="2600" b="1">
                <a:solidFill>
                  <a:srgbClr val="BAE6FD"/>
                </a:solidFill>
                <a:latin typeface="Plus Jakarta Sans"/>
              </a:defRPr>
            </a:pPr>
            <a:r>
              <a:t>0 VIDEOS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Zero Permanent Cloud Storage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Next.js 15 web UI with video player and community feed.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Go Cloud API handles logins and play decision routing.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PostgreSQL holds ~3 KB manifests; Redis tracks 15s node heartbeats.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24h Origin Shield chunk cache serves hot video pieces to viewers.</a:t>
            </a:r>
          </a:p>
        </p:txBody>
      </p:sp>
    </p:spTree>
  </p:cSld>
  <p:clrMapOvr>
    <a:masterClrMapping/>
  </p:clrMapOvr>
  <p:transition spd="med">
    <p:fade filter="out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412480" y="5961888"/>
            <a:ext cx="2514600" cy="475488"/>
          </a:xfrm>
          <a:prstGeom prst="roundRect">
            <a:avLst/>
          </a:prstGeom>
          <a:solidFill>
            <a:srgbClr val="131B2E"/>
          </a:solidFill>
          <a:ln w="1524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EF08A"/>
                </a:solidFill>
                <a:latin typeface="Plus Jakarta Sans"/>
              </a:defRPr>
            </a:pPr>
            <a:r>
              <a:t>Powered by GCP! ☁️</a:t>
            </a:r>
          </a:p>
        </p:txBody>
      </p:sp>
      <p:pic>
        <p:nvPicPr>
          <p:cNvPr id="5" name="Picture 4" descr="custard_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650992"/>
            <a:ext cx="896112" cy="896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2004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EF08A"/>
                </a:solidFill>
                <a:latin typeface="Plus Jakarta Sans"/>
              </a:defRPr>
            </a:pPr>
            <a:r>
              <a:t>GCP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F8FAFC"/>
                </a:solidFill>
                <a:latin typeface="Plus Jakarta Sans"/>
              </a:defRPr>
            </a:pPr>
            <a:r>
              <a:t>How We Use the Cloud: GCP Features &amp;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83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508760"/>
            <a:ext cx="2487168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709928"/>
            <a:ext cx="1975104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EF08A"/>
                </a:solidFill>
                <a:latin typeface="Plus Jakarta Sans"/>
              </a:defRPr>
            </a:pPr>
            <a:r>
              <a:t>CLOUD COMPUTE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GCP Compute Engine</a:t>
            </a:r>
          </a:p>
          <a:p>
            <a:pPr>
              <a:spcAft>
                <a:spcPts val="200"/>
              </a:spcAft>
              <a:defRPr sz="2600" b="1">
                <a:solidFill>
                  <a:srgbClr val="FEF08A"/>
                </a:solidFill>
                <a:latin typeface="Plus Jakarta Sans"/>
              </a:defRPr>
            </a:pPr>
            <a:r>
              <a:t>GCP VM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Linux Container Host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Linux host running Docker containers.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Runs Caddy, Next.js, API, and FRPS.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Static public IP for reliable tunnel.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508760"/>
            <a:ext cx="2487168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1709928"/>
            <a:ext cx="1975104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BAE6FD"/>
                </a:solidFill>
                <a:latin typeface="Plus Jakarta Sans"/>
              </a:defRPr>
            </a:pPr>
            <a:r>
              <a:t>NETWORKING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VPC &amp; Firewall</a:t>
            </a:r>
          </a:p>
          <a:p>
            <a:pPr>
              <a:spcAft>
                <a:spcPts val="200"/>
              </a:spcAft>
              <a:defRPr sz="2600" b="1">
                <a:solidFill>
                  <a:srgbClr val="BAE6FD"/>
                </a:solidFill>
                <a:latin typeface="Plus Jakarta Sans"/>
              </a:defRPr>
            </a:pPr>
            <a:r>
              <a:t>VPC TLS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Firewall &amp; Auto HTTPS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Ports 80 &amp; 443 open for web traffic.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Port 7000 open for safe FRP tunnel.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Caddy provides automated HTTPS TLS.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508760"/>
            <a:ext cx="2487168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709928"/>
            <a:ext cx="1975104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7F3D0"/>
                </a:solidFill>
                <a:latin typeface="Plus Jakarta Sans"/>
              </a:defRPr>
            </a:pPr>
            <a:r>
              <a:t>ORIGIN SHIELD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In-VM S3 Object Cache</a:t>
            </a:r>
          </a:p>
          <a:p>
            <a:pPr>
              <a:spcAft>
                <a:spcPts val="200"/>
              </a:spcAft>
              <a:defRPr sz="2600" b="1">
                <a:solidFill>
                  <a:srgbClr val="A7F3D0"/>
                </a:solidFill>
                <a:latin typeface="Plus Jakarta Sans"/>
              </a:defRPr>
            </a:pPr>
            <a:r>
              <a:t>24h LRU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In-VM S3 Cache (0 Extra Cost)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Runs inside the GCP VM via MinIO container.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Exposes standard S3 API on port 9000.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No separate paid cloud bucket needed.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Auto-purges inactive chunks after 24 hours.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508760"/>
            <a:ext cx="2606040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9992" y="1709928"/>
            <a:ext cx="2093976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ED7AA"/>
                </a:solidFill>
                <a:latin typeface="Plus Jakarta Sans"/>
              </a:defRPr>
            </a:pPr>
            <a:r>
              <a:t>METADATA &amp; STATE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Cloud State Layer</a:t>
            </a:r>
          </a:p>
          <a:p>
            <a:pPr>
              <a:spcAft>
                <a:spcPts val="200"/>
              </a:spcAft>
              <a:defRPr sz="2600" b="1">
                <a:solidFill>
                  <a:srgbClr val="FED7AA"/>
                </a:solidFill>
                <a:latin typeface="Plus Jakarta Sans"/>
              </a:defRPr>
            </a:pPr>
            <a:r>
              <a:t>15s TTL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Postgres &amp; Redis Health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PostgreSQL stores ~3 KB manifests &amp; users.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Redis heartbeat keys have 15s TTL.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Instant detection if home PC goes offline.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412480" y="5961888"/>
            <a:ext cx="2514600" cy="475488"/>
          </a:xfrm>
          <a:prstGeom prst="roundRect">
            <a:avLst/>
          </a:prstGeom>
          <a:solidFill>
            <a:srgbClr val="131B2E"/>
          </a:solidFill>
          <a:ln w="1524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EF08A"/>
                </a:solidFill>
                <a:latin typeface="Plus Jakarta Sans"/>
              </a:defRPr>
            </a:pPr>
            <a:r>
              <a:t>Home Wi-Fi Safe! 🛡️</a:t>
            </a:r>
          </a:p>
        </p:txBody>
      </p:sp>
      <p:pic>
        <p:nvPicPr>
          <p:cNvPr id="5" name="Picture 4" descr="custard_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650992"/>
            <a:ext cx="896112" cy="896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2004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F3D0"/>
                </a:solidFill>
                <a:latin typeface="Plus Jakarta Sans"/>
              </a:defRPr>
            </a:pPr>
            <a:r>
              <a:t>SMART ROUTING &amp; 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F8FAFC"/>
                </a:solidFill>
                <a:latin typeface="Plus Jakarta Sans"/>
              </a:defRPr>
            </a:pPr>
            <a:r>
              <a:t>Origin Shield &amp; Router: Protecting Home Wi-Fi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83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508760"/>
            <a:ext cx="5166360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709928"/>
            <a:ext cx="4654296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EF08A"/>
                </a:solidFill>
                <a:latin typeface="Plus Jakarta Sans"/>
              </a:defRPr>
            </a:pPr>
            <a:r>
              <a:t>PLAY DECISION ENGINE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Smart Play Router (4-Step Check)</a:t>
            </a:r>
          </a:p>
          <a:p>
            <a:pPr>
              <a:spcAft>
                <a:spcPts val="200"/>
              </a:spcAft>
              <a:defRPr sz="2600" b="1">
                <a:solidFill>
                  <a:srgbClr val="FEF08A"/>
                </a:solidFill>
                <a:latin typeface="Plus Jakarta Sans"/>
              </a:defRPr>
            </a:pPr>
            <a:r>
              <a:t>4 CHECKS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Intelligent Stream Routing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1. Redis Liveness: Checks if home node is online within last 15 seconds.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2. Same Wi-Fi Bypass: Home viewers stream direct via LAN (0 cloud data).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3. Cloud Cache Hit: Serves cached 4s chunk from GCP bucket instantly.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4. Cache Miss Pull: Pulls chunk once through tunnel; caps at 10 streams.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166360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709928"/>
            <a:ext cx="4654296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7F3D0"/>
                </a:solidFill>
                <a:latin typeface="Plus Jakarta Sans"/>
              </a:defRPr>
            </a:pPr>
            <a:r>
              <a:t>BANDWIDTH SHIELD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Home Wi-Fi Protection</a:t>
            </a:r>
          </a:p>
          <a:p>
            <a:pPr>
              <a:spcAft>
                <a:spcPts val="200"/>
              </a:spcAft>
              <a:defRPr sz="2600" b="1">
                <a:solidFill>
                  <a:srgbClr val="A7F3D0"/>
                </a:solidFill>
                <a:latin typeface="Plus Jakarta Sans"/>
              </a:defRPr>
            </a:pPr>
            <a:r>
              <a:t>92.4% SAVED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Home Upload Bandwidth Protected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Home PC uploads each hot 4s chunk once (5 Mbps) over the tunnel.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GCP Origin Shield cache serves 100+ viral viewers directly.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Home upload never chokes even when a video goes viral.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Tested under 10 concurrent remote viewers with zero buffering.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5257800"/>
            <a:ext cx="4572000" cy="12801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5257800"/>
            <a:ext cx="4224528" cy="128016"/>
          </a:xfrm>
          <a:prstGeom prst="roundRect">
            <a:avLst/>
          </a:prstGeom>
          <a:solidFill>
            <a:srgbClr val="A7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 filter="out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412480" y="5961888"/>
            <a:ext cx="2514600" cy="475488"/>
          </a:xfrm>
          <a:prstGeom prst="roundRect">
            <a:avLst/>
          </a:prstGeom>
          <a:solidFill>
            <a:srgbClr val="131B2E"/>
          </a:solidFill>
          <a:ln w="1524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EF08A"/>
                </a:solidFill>
                <a:latin typeface="Plus Jakarta Sans"/>
              </a:defRPr>
            </a:pPr>
            <a:r>
              <a:t>Runs on Any PC! 🚀</a:t>
            </a:r>
          </a:p>
        </p:txBody>
      </p:sp>
      <p:pic>
        <p:nvPicPr>
          <p:cNvPr id="5" name="Picture 4" descr="custard_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650992"/>
            <a:ext cx="896112" cy="896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2004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DE047"/>
                </a:solidFill>
                <a:latin typeface="Plus Jakarta Sans"/>
              </a:defRPr>
            </a:pPr>
            <a:r>
              <a:t>UNIVERSAL HARDWARE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F8FAFC"/>
                </a:solidFill>
                <a:latin typeface="Plus Jakarta Sans"/>
              </a:defRPr>
            </a:pPr>
            <a:r>
              <a:t>Open-Source Tools &amp; Universal Hardware Support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83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508760"/>
            <a:ext cx="3337560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709928"/>
            <a:ext cx="2825496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EF08A"/>
                </a:solidFill>
                <a:latin typeface="Plus Jakarta Sans"/>
              </a:defRPr>
            </a:pPr>
            <a:r>
              <a:t>UNIVERSAL HARDWARE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Smart Encoding</a:t>
            </a:r>
          </a:p>
          <a:p>
            <a:pPr>
              <a:spcAft>
                <a:spcPts val="200"/>
              </a:spcAft>
              <a:defRPr sz="2600" b="1">
                <a:solidFill>
                  <a:srgbClr val="FEF08A"/>
                </a:solidFill>
                <a:latin typeface="Plus Jakarta Sans"/>
              </a:defRPr>
            </a:pPr>
            <a:r>
              <a:t>GPU / CPU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NVENC + CPU libx264 Fallback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Auto-detects hardware on startup.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Uses NVIDIA NVENC GPU if present.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Automatic CPU (libx264) fallback.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Runs on any team laptop or home PC.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7552" y="5257800"/>
            <a:ext cx="2788920" cy="12801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7552" y="5257800"/>
            <a:ext cx="2454249" cy="128016"/>
          </a:xfrm>
          <a:prstGeom prst="round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89120" y="1508760"/>
            <a:ext cx="3337560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709928"/>
            <a:ext cx="2825496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7F3D0"/>
                </a:solidFill>
                <a:latin typeface="Plus Jakarta Sans"/>
              </a:defRPr>
            </a:pPr>
            <a:r>
              <a:t>RESOURCE EFFICIENCY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Low Memory</a:t>
            </a:r>
          </a:p>
          <a:p>
            <a:pPr>
              <a:spcAft>
                <a:spcPts val="200"/>
              </a:spcAft>
              <a:defRPr sz="2600" b="1">
                <a:solidFill>
                  <a:srgbClr val="A7F3D0"/>
                </a:solidFill>
                <a:latin typeface="Plus Jakarta Sans"/>
              </a:defRPr>
            </a:pPr>
            <a:r>
              <a:t>&lt; 18 MB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Edge Daemon Idle RAM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Static Go binary uses under 18 MB idle RAM.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95% less RAM than Plex/Jellyfin (400+ MB).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Embedded SQLite WAL for fast local storage.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No fan noise or heat on team laptops.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45152" y="5257800"/>
            <a:ext cx="2788920" cy="128016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45152" y="5257800"/>
            <a:ext cx="418337" cy="128016"/>
          </a:xfrm>
          <a:prstGeom prst="roundRect">
            <a:avLst/>
          </a:prstGeom>
          <a:solidFill>
            <a:srgbClr val="A7F3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20" y="1508760"/>
            <a:ext cx="3413455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709928"/>
            <a:ext cx="2901391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BAE6FD"/>
                </a:solidFill>
                <a:latin typeface="Plus Jakarta Sans"/>
              </a:defRPr>
            </a:pPr>
            <a:r>
              <a:t>ZERO LICENSES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100% Free &amp; Open Source</a:t>
            </a:r>
          </a:p>
          <a:p>
            <a:pPr>
              <a:spcAft>
                <a:spcPts val="200"/>
              </a:spcAft>
              <a:defRPr sz="2600" b="1">
                <a:solidFill>
                  <a:srgbClr val="BAE6FD"/>
                </a:solidFill>
                <a:latin typeface="Plus Jakarta Sans"/>
              </a:defRPr>
            </a:pPr>
            <a:r>
              <a:t>100% FOSS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Free &amp; Open Source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Go 1.24 static binary backend.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Next.js 15 UI with React 19 &amp; hls.js.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PostgreSQL + SQLite WAL + Redis.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FFmpeg, FRP tunnel, and Caddy TLS.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6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EF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412480" y="5961888"/>
            <a:ext cx="2514600" cy="475488"/>
          </a:xfrm>
          <a:prstGeom prst="roundRect">
            <a:avLst/>
          </a:prstGeom>
          <a:solidFill>
            <a:srgbClr val="131B2E"/>
          </a:solidFill>
          <a:ln w="1524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50" b="1">
                <a:solidFill>
                  <a:srgbClr val="FEF08A"/>
                </a:solidFill>
                <a:latin typeface="Plus Jakarta Sans"/>
              </a:defRPr>
            </a:pPr>
            <a:r>
              <a:t>Thank You! Questions? 🏆</a:t>
            </a:r>
          </a:p>
        </p:txBody>
      </p:sp>
      <p:pic>
        <p:nvPicPr>
          <p:cNvPr id="5" name="Picture 4" descr="custard_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5650992"/>
            <a:ext cx="896112" cy="8961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20040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EF08A"/>
                </a:solidFill>
                <a:latin typeface="Plus Jakarta Sans"/>
              </a:defRPr>
            </a:pPr>
            <a:r>
              <a:t>VIVA 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F8FAFC"/>
                </a:solidFill>
                <a:latin typeface="Plus Jakarta Sans"/>
              </a:defRPr>
            </a:pPr>
            <a:r>
              <a:t>Live Demonstration: What We Show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2835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508760"/>
            <a:ext cx="5166360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EF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709928"/>
            <a:ext cx="4654296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EF08A"/>
                </a:solidFill>
                <a:latin typeface="Plus Jakarta Sans"/>
              </a:defRPr>
            </a:pPr>
            <a:r>
              <a:t>TESTED LIVE FEATURES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Live Demo Checklist</a:t>
            </a:r>
          </a:p>
          <a:p>
            <a:pPr>
              <a:spcAft>
                <a:spcPts val="200"/>
              </a:spcAft>
              <a:defRPr sz="2600" b="1">
                <a:solidFill>
                  <a:srgbClr val="FEF08A"/>
                </a:solidFill>
                <a:latin typeface="Plus Jakarta Sans"/>
              </a:defRPr>
            </a:pPr>
            <a:r>
              <a:t>6 DEMOS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End-to-End Live Scenarios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User signup and login with uploader attribution.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Private vs Public toggle with instant ~3 KB manifest sync.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Auto-generated thumbnails and self-cleaning library on boot.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Direct LAN playback bypass (0 cloud data) + remote stream.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Instant offline detection when home node shuts down (15s TTL).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166360" cy="43434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709928"/>
            <a:ext cx="4654296" cy="3941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A7F3D0"/>
                </a:solidFill>
                <a:latin typeface="Plus Jakarta Sans"/>
              </a:defRPr>
            </a:pPr>
            <a:r>
              <a:t>EVALUATION READY</a:t>
            </a:r>
          </a:p>
          <a:p>
            <a:pPr>
              <a:spcAft>
                <a:spcPts val="800"/>
              </a:spcAft>
              <a:defRPr sz="1800" b="1">
                <a:solidFill>
                  <a:srgbClr val="F8FAFC"/>
                </a:solidFill>
                <a:latin typeface="Plus Jakarta Sans"/>
              </a:defRPr>
            </a:pPr>
            <a:r>
              <a:t>Project Summary</a:t>
            </a:r>
          </a:p>
          <a:p>
            <a:pPr>
              <a:spcAft>
                <a:spcPts val="200"/>
              </a:spcAft>
              <a:defRPr sz="2600" b="1">
                <a:solidFill>
                  <a:srgbClr val="A7F3D0"/>
                </a:solidFill>
                <a:latin typeface="Plus Jakarta Sans"/>
              </a:defRPr>
            </a:pPr>
            <a:r>
              <a:t>READY</a:t>
            </a:r>
          </a:p>
          <a:p>
            <a:pPr>
              <a:spcAft>
                <a:spcPts val="800"/>
              </a:spcAft>
              <a:defRPr sz="1100">
                <a:solidFill>
                  <a:srgbClr val="94A3B8"/>
                </a:solidFill>
                <a:latin typeface="Plus Jakarta Sans"/>
              </a:defRPr>
            </a:pPr>
            <a:r>
              <a:t>Viva Defense &amp; Demo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Zero permanent cloud video storage strictly preserved.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Google Cloud Platform control plane manages discovery &amp; cache.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Universal hardware support runs on any team member's PC.</a:t>
            </a:r>
          </a:p>
          <a:p>
            <a:pPr>
              <a:spcAft>
                <a:spcPts val="700"/>
              </a:spcAft>
              <a:defRPr sz="1350">
                <a:solidFill>
                  <a:srgbClr val="CBD5E1"/>
                </a:solidFill>
                <a:latin typeface="Plus Jakarta Sans"/>
              </a:defRPr>
            </a:pPr>
            <a:r>
              <a:t>▸  Viva presentation defense: Anish Ghadi &amp; Anosh Chodankar.</a:t>
            </a:r>
          </a:p>
        </p:txBody>
      </p:sp>
    </p:spTree>
  </p:cSld>
  <p:clrMapOvr>
    <a:masterClrMapping/>
  </p:clrMapOvr>
  <p:transition spd="med">
    <p:fade filter="out"/>
  </p:transition>
  <p:timing>
    <p:tnLst>
      <p:par>
        <p:cTn id="1" dur="indefinite" restart="always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1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